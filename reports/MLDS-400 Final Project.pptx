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5603495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a560349540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56034954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560349540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67a66cd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67a66cd7a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7a66cd7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67a66cd7a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67a66cd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67a66cd7a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645b373b5_5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645b373b5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a645b373b5_5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645b373b5_5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645b373b5_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645b373b5_5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645b373b5_5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645b373b5_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645b373b5_5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645b373b5_5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645b373b5_5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645b373b5_5_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645b373b5_5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645b373b5_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a645b373b5_5_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67a66cd7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67a66cd7a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7731c9749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7731c97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a7731c9749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7731c9749_1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7731c9749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7731c9749_1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7731c9749_1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7731c974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a7731c9749_1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7731c9749_1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7731c974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7731c9749_1_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56034954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a560349540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1">
  <p:cSld name="Separator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0" y="1542060"/>
            <a:ext cx="91440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7057571" y="-91621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WU PPT Wide Opt 2 - No Wordmark_Separator 1.jpg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2">
  <p:cSld name="Separator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0" y="1542060"/>
            <a:ext cx="91440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NWU PPT Wide Opt 2 - No Wordmark_Separator 2.jp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3">
  <p:cSld name="Master 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9"/>
          <p:cNvSpPr txBox="1"/>
          <p:nvPr>
            <p:ph idx="3" type="body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36197" y="-30456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26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2" y="0"/>
            <a:ext cx="9144000" cy="116400"/>
          </a:xfrm>
          <a:prstGeom prst="rect">
            <a:avLst/>
          </a:prstGeom>
          <a:solidFill>
            <a:srgbClr val="3017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-rule.ai" id="107" name="Google Shape;107;p16"/>
          <p:cNvPicPr preferRelativeResize="0"/>
          <p:nvPr/>
        </p:nvPicPr>
        <p:blipFill rotWithShape="1">
          <a:blip r:embed="rId2">
            <a:alphaModFix/>
          </a:blip>
          <a:srcRect b="36624" l="0" r="0" t="59753"/>
          <a:stretch/>
        </p:blipFill>
        <p:spPr>
          <a:xfrm>
            <a:off x="2" y="4887618"/>
            <a:ext cx="6857993" cy="255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>
            <p:ph type="ctrTitle"/>
          </p:nvPr>
        </p:nvSpPr>
        <p:spPr>
          <a:xfrm>
            <a:off x="773028" y="417786"/>
            <a:ext cx="76089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  <a:defRPr b="0" sz="4800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773028" y="2935454"/>
            <a:ext cx="69993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C3BFBF"/>
                </a:solidFill>
              </a:defRPr>
            </a:lvl1pPr>
            <a:lvl2pPr lvl="1" algn="ctr">
              <a:spcBef>
                <a:spcPts val="380"/>
              </a:spcBef>
              <a:spcAft>
                <a:spcPts val="0"/>
              </a:spcAft>
              <a:buSzPts val="1900"/>
              <a:buNone/>
              <a:defRPr>
                <a:solidFill>
                  <a:srgbClr val="8D8C8C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D8C8C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D8C8C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D8C8C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Clr>
                <a:srgbClr val="8D8C8C"/>
              </a:buClr>
              <a:buSzPts val="1600"/>
              <a:buNone/>
              <a:defRPr>
                <a:solidFill>
                  <a:srgbClr val="8D8C8C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Clr>
                <a:srgbClr val="8D8C8C"/>
              </a:buClr>
              <a:buSzPts val="1600"/>
              <a:buNone/>
              <a:defRPr>
                <a:solidFill>
                  <a:srgbClr val="8D8C8C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Clr>
                <a:srgbClr val="8D8C8C"/>
              </a:buClr>
              <a:buSzPts val="1600"/>
              <a:buNone/>
              <a:defRPr>
                <a:solidFill>
                  <a:srgbClr val="8D8C8C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Clr>
                <a:srgbClr val="8D8C8C"/>
              </a:buClr>
              <a:buSzPts val="1600"/>
              <a:buNone/>
              <a:defRPr>
                <a:solidFill>
                  <a:srgbClr val="8D8C8C"/>
                </a:solidFill>
              </a:defRPr>
            </a:lvl9pPr>
          </a:lstStyle>
          <a:p/>
        </p:txBody>
      </p:sp>
      <p:pic>
        <p:nvPicPr>
          <p:cNvPr descr="horiz_mcc-eng_white.eps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701" y="4320467"/>
            <a:ext cx="2535553" cy="30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idx="2" type="body"/>
          </p:nvPr>
        </p:nvSpPr>
        <p:spPr>
          <a:xfrm>
            <a:off x="773027" y="4015433"/>
            <a:ext cx="3502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indent="-228600" lvl="0" marL="457200" algn="l">
              <a:spcBef>
                <a:spcPts val="260"/>
              </a:spcBef>
              <a:spcAft>
                <a:spcPts val="0"/>
              </a:spcAft>
              <a:buSzPts val="1300"/>
              <a:buNone/>
              <a:defRPr b="0" sz="1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200" y="1075270"/>
            <a:ext cx="8397900" cy="3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dk1"/>
                </a:solidFill>
              </a:defRPr>
            </a:lvl1pPr>
            <a:lvl2pPr indent="-349250" lvl="1" marL="914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>
                <a:solidFill>
                  <a:schemeClr val="dk1"/>
                </a:solidFill>
              </a:defRPr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▪"/>
              <a:defRPr>
                <a:solidFill>
                  <a:schemeClr val="dk1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117" name="Google Shape;117;p17"/>
          <p:cNvSpPr/>
          <p:nvPr/>
        </p:nvSpPr>
        <p:spPr>
          <a:xfrm>
            <a:off x="1" y="294886"/>
            <a:ext cx="8703733" cy="670375"/>
          </a:xfrm>
          <a:custGeom>
            <a:rect b="b" l="l" r="r" t="t"/>
            <a:pathLst>
              <a:path extrusionOk="0" h="602584" w="8703733">
                <a:moveTo>
                  <a:pt x="0" y="0"/>
                </a:moveTo>
                <a:lnTo>
                  <a:pt x="8252883" y="0"/>
                </a:lnTo>
                <a:lnTo>
                  <a:pt x="8703733" y="602584"/>
                </a:lnTo>
                <a:lnTo>
                  <a:pt x="0" y="6025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457200" y="320288"/>
            <a:ext cx="83979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" showMasterSp="0">
  <p:cSld name="Ending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1" y="1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 txBox="1"/>
          <p:nvPr>
            <p:ph type="ctrTitle"/>
          </p:nvPr>
        </p:nvSpPr>
        <p:spPr>
          <a:xfrm>
            <a:off x="1079579" y="693682"/>
            <a:ext cx="69993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0" sz="40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horiz_mcc-eng_purple.eps" id="122" name="Google Shape;12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88762" y="4273548"/>
            <a:ext cx="2535553" cy="30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57200" y="249632"/>
            <a:ext cx="7958700" cy="42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1540932" y="1024466"/>
            <a:ext cx="6126600" cy="263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75" lIns="365750" spcFirstLastPara="1" rIns="365750" wrap="square" tIns="13715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540932" y="1024466"/>
            <a:ext cx="6126600" cy="26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75" lIns="365750" spcFirstLastPara="1" rIns="365750" wrap="square" tIns="13715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0" y="0"/>
            <a:ext cx="9144000" cy="398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28600" y="228599"/>
            <a:ext cx="8686800" cy="438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1031395" y="1109132"/>
            <a:ext cx="70890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365750" spcFirstLastPara="1" rIns="365750" wrap="square" tIns="13715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rial"/>
              <a:buNone/>
              <a:defRPr sz="4000" cap="none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 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0" y="0"/>
            <a:ext cx="9144000" cy="26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1" y="0"/>
            <a:ext cx="9144000" cy="46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1" y="249632"/>
            <a:ext cx="7992600" cy="42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3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/>
          <p:nvPr/>
        </p:nvSpPr>
        <p:spPr>
          <a:xfrm>
            <a:off x="1" y="0"/>
            <a:ext cx="9144000" cy="11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2">
            <a:alphaModFix/>
          </a:blip>
          <a:srcRect b="9886" l="18014" r="11174" t="74962"/>
          <a:stretch/>
        </p:blipFill>
        <p:spPr>
          <a:xfrm>
            <a:off x="1" y="4342486"/>
            <a:ext cx="6858004" cy="30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457200" y="210216"/>
            <a:ext cx="83979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457200" y="1168400"/>
            <a:ext cx="83979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SzPts val="2200"/>
              <a:buChar char="•"/>
              <a:defRPr>
                <a:solidFill>
                  <a:schemeClr val="dk1"/>
                </a:solidFill>
              </a:defRPr>
            </a:lvl1pPr>
            <a:lvl2pPr indent="-349250" lvl="1" marL="914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>
                <a:solidFill>
                  <a:schemeClr val="dk1"/>
                </a:solidFill>
              </a:defRPr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▪"/>
              <a:defRPr>
                <a:solidFill>
                  <a:schemeClr val="dk1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Content">
  <p:cSld name="Title and Two Columns Conten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457200" y="210216"/>
            <a:ext cx="83979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457202" y="1134533"/>
            <a:ext cx="39921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SzPts val="2200"/>
              <a:buChar char="•"/>
              <a:defRPr>
                <a:solidFill>
                  <a:srgbClr val="444444"/>
                </a:solidFill>
              </a:defRPr>
            </a:lvl1pPr>
            <a:lvl2pPr indent="-349250" lvl="1" marL="914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>
                <a:solidFill>
                  <a:srgbClr val="444444"/>
                </a:solidFill>
              </a:defRPr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rgbClr val="444444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▪"/>
              <a:defRPr>
                <a:solidFill>
                  <a:srgbClr val="444444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rgbClr val="444444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5"/>
          <p:cNvSpPr txBox="1"/>
          <p:nvPr>
            <p:ph idx="2" type="body"/>
          </p:nvPr>
        </p:nvSpPr>
        <p:spPr>
          <a:xfrm>
            <a:off x="4694623" y="1134533"/>
            <a:ext cx="39921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SzPts val="2200"/>
              <a:buChar char="•"/>
              <a:defRPr>
                <a:solidFill>
                  <a:srgbClr val="444444"/>
                </a:solidFill>
              </a:defRPr>
            </a:lvl1pPr>
            <a:lvl2pPr indent="-349250" lvl="1" marL="914400" algn="l">
              <a:spcBef>
                <a:spcPts val="380"/>
              </a:spcBef>
              <a:spcAft>
                <a:spcPts val="0"/>
              </a:spcAft>
              <a:buSzPts val="1900"/>
              <a:buChar char="▪"/>
              <a:defRPr>
                <a:solidFill>
                  <a:srgbClr val="444444"/>
                </a:solidFill>
              </a:defRPr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rgbClr val="444444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▪"/>
              <a:defRPr>
                <a:solidFill>
                  <a:srgbClr val="444444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>
                <a:solidFill>
                  <a:srgbClr val="444444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•"/>
              <a:defRPr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Char char="o"/>
              <a:defRPr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 Content">
  <p:cSld name="Feature Conte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143933" y="152399"/>
            <a:ext cx="8856000" cy="4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6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6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tems with Optional Caption">
  <p:cSld name="Two Items with Optional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1214817" y="4060930"/>
            <a:ext cx="67530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45700">
            <a:sp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1" sz="1400">
                <a:solidFill>
                  <a:srgbClr val="6E6868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9E919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9E919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9E919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9E919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27"/>
          <p:cNvSpPr txBox="1"/>
          <p:nvPr>
            <p:ph idx="2" type="body"/>
          </p:nvPr>
        </p:nvSpPr>
        <p:spPr>
          <a:xfrm>
            <a:off x="385380" y="717679"/>
            <a:ext cx="411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3" type="body"/>
          </p:nvPr>
        </p:nvSpPr>
        <p:spPr>
          <a:xfrm>
            <a:off x="4643817" y="717679"/>
            <a:ext cx="411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tem Grid">
  <p:cSld name="Three Item Grid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453993" y="465138"/>
            <a:ext cx="26364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2" type="body"/>
          </p:nvPr>
        </p:nvSpPr>
        <p:spPr>
          <a:xfrm>
            <a:off x="6045197" y="465137"/>
            <a:ext cx="26373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3" type="body"/>
          </p:nvPr>
        </p:nvSpPr>
        <p:spPr>
          <a:xfrm>
            <a:off x="3251200" y="465138"/>
            <a:ext cx="26415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o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9E919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8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8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1" y="4817533"/>
            <a:ext cx="9144000" cy="3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WU PPT Wide Opt 2_Master.jpg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1" y="1"/>
            <a:ext cx="9144000" cy="3192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10216"/>
            <a:ext cx="83979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294086"/>
            <a:ext cx="8397900" cy="3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algn="l"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▪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spcBef>
                <a:spcPts val="320"/>
              </a:spcBef>
              <a:spcAft>
                <a:spcPts val="0"/>
              </a:spcAft>
              <a:buClr>
                <a:srgbClr val="6E6868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spcBef>
                <a:spcPts val="320"/>
              </a:spcBef>
              <a:spcAft>
                <a:spcPts val="0"/>
              </a:spcAft>
              <a:buClr>
                <a:srgbClr val="6E6868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spcBef>
                <a:spcPts val="320"/>
              </a:spcBef>
              <a:spcAft>
                <a:spcPts val="0"/>
              </a:spcAft>
              <a:buClr>
                <a:srgbClr val="6E6868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9E919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9E919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rgbClr val="9E919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spcBef>
                <a:spcPts val="320"/>
              </a:spcBef>
              <a:spcAft>
                <a:spcPts val="0"/>
              </a:spcAft>
              <a:buClr>
                <a:srgbClr val="9E919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9E919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4405923" y="4818270"/>
            <a:ext cx="495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45700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1100" u="none" cap="none" strike="noStrike">
                <a:solidFill>
                  <a:srgbClr val="48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idx="10" type="dt"/>
          </p:nvPr>
        </p:nvSpPr>
        <p:spPr>
          <a:xfrm>
            <a:off x="8405091" y="4668812"/>
            <a:ext cx="593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1" type="ftr"/>
          </p:nvPr>
        </p:nvSpPr>
        <p:spPr>
          <a:xfrm>
            <a:off x="5740407" y="4817477"/>
            <a:ext cx="32586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D8C8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oriz_eng_purple_RGB.eps" id="102" name="Google Shape;102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7067" y="4881853"/>
            <a:ext cx="1450183" cy="1400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noricev/COVID-Tracking-Project/blob/main/notebooks/01_raw_data_exploration.ipyn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noricev/COVID-Tracking-Projec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ctrTitle"/>
          </p:nvPr>
        </p:nvSpPr>
        <p:spPr>
          <a:xfrm>
            <a:off x="773028" y="417786"/>
            <a:ext cx="76089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 Black"/>
              <a:buNone/>
            </a:pPr>
            <a:r>
              <a:rPr lang="en-US" sz="4600"/>
              <a:t>COVID Tracking Project</a:t>
            </a:r>
            <a:endParaRPr sz="4600"/>
          </a:p>
        </p:txBody>
      </p:sp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73028" y="2935454"/>
            <a:ext cx="69993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>
                <a:latin typeface="Arial Black"/>
                <a:ea typeface="Arial Black"/>
                <a:cs typeface="Arial Black"/>
                <a:sym typeface="Arial Black"/>
              </a:rPr>
              <a:t>Group 9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>
                <a:latin typeface="Arial Black"/>
                <a:ea typeface="Arial Black"/>
                <a:cs typeface="Arial Black"/>
                <a:sym typeface="Arial Black"/>
              </a:rPr>
              <a:t>Erica Liu, Veronica Lin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>
                <a:latin typeface="Arial Black"/>
                <a:ea typeface="Arial Black"/>
                <a:cs typeface="Arial Black"/>
                <a:sym typeface="Arial Black"/>
              </a:rPr>
              <a:t>Yujun Sun, Shan Zhong</a:t>
            </a:r>
            <a:endParaRPr b="1" sz="28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2.jpg" id="198" name="Google Shape;1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>
            <p:ph type="ctrTitle"/>
          </p:nvPr>
        </p:nvSpPr>
        <p:spPr>
          <a:xfrm>
            <a:off x="195750" y="1177475"/>
            <a:ext cx="31413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 txBox="1"/>
          <p:nvPr>
            <p:ph idx="1" type="subTitle"/>
          </p:nvPr>
        </p:nvSpPr>
        <p:spPr>
          <a:xfrm>
            <a:off x="3764200" y="1772675"/>
            <a:ext cx="5214600" cy="24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Architecture Overview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Issues &amp; Cleaning Strategy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Analytical Findings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Repository &amp; Shiny App Walkthrough</a:t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8427357" y="5851071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8010071" y="5751286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1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>
            <p:ph type="ctrTitle"/>
          </p:nvPr>
        </p:nvSpPr>
        <p:spPr>
          <a:xfrm>
            <a:off x="2748593" y="378461"/>
            <a:ext cx="63954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Project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 txBox="1"/>
          <p:nvPr>
            <p:ph idx="1" type="subTitle"/>
          </p:nvPr>
        </p:nvSpPr>
        <p:spPr>
          <a:xfrm>
            <a:off x="2713000" y="1941034"/>
            <a:ext cx="5829900" cy="25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source &amp; API choice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○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COVID Tracking Project API 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(US + state daily COVID metrics)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Public, well-documented, consistent JSON/CSV schema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3300" y="571900"/>
            <a:ext cx="2676500" cy="1059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1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>
            <p:ph type="ctrTitle"/>
          </p:nvPr>
        </p:nvSpPr>
        <p:spPr>
          <a:xfrm>
            <a:off x="2748593" y="378461"/>
            <a:ext cx="639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Project Architecture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3"/>
          <p:cNvSpPr txBox="1"/>
          <p:nvPr>
            <p:ph idx="1" type="subTitle"/>
          </p:nvPr>
        </p:nvSpPr>
        <p:spPr>
          <a:xfrm>
            <a:off x="2748600" y="1318781"/>
            <a:ext cx="63954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goals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Reproducible, automated pipeline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High-level Architecture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-&gt; data/raw/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Airflow DAG runs Python ETL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 tables stored in SQLite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Notebooks &amp; Shiny app read from the processed database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4388"/>
            <a:ext cx="8839201" cy="323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 Issues &amp; Fixes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u="sng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Explore raw data</a:t>
            </a:r>
            <a:endParaRPr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2.jpg" id="235" name="Google Shape;2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6"/>
          <p:cNvSpPr txBox="1"/>
          <p:nvPr/>
        </p:nvSpPr>
        <p:spPr>
          <a:xfrm>
            <a:off x="8427357" y="5851071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8010071" y="575128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6"/>
          <p:cNvSpPr txBox="1"/>
          <p:nvPr>
            <p:ph type="ctrTitle"/>
          </p:nvPr>
        </p:nvSpPr>
        <p:spPr>
          <a:xfrm>
            <a:off x="685800" y="2020492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Analytical Findings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2.jpg" id="243" name="Google Shape;24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7"/>
          <p:cNvSpPr txBox="1"/>
          <p:nvPr/>
        </p:nvSpPr>
        <p:spPr>
          <a:xfrm>
            <a:off x="8427357" y="5851071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8010071" y="575128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7"/>
          <p:cNvSpPr txBox="1"/>
          <p:nvPr>
            <p:ph type="ctrTitle"/>
          </p:nvPr>
        </p:nvSpPr>
        <p:spPr>
          <a:xfrm>
            <a:off x="685800" y="2020492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50">
                <a:latin typeface="Calibri"/>
                <a:ea typeface="Calibri"/>
                <a:cs typeface="Calibri"/>
                <a:sym typeface="Calibri"/>
              </a:rPr>
              <a:t>National Level Analysis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p38" title="Daily New COVID-19 Cases in the US (with 7-day Moving Averag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25" y="613350"/>
            <a:ext cx="5542600" cy="350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8"/>
          <p:cNvSpPr txBox="1"/>
          <p:nvPr/>
        </p:nvSpPr>
        <p:spPr>
          <a:xfrm>
            <a:off x="5871000" y="259775"/>
            <a:ext cx="3273000" cy="4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Early 2020: Cases stayed low before widespread transmission.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Apr 2020: First rise and peak, then a decline.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Jul 2020: Second wave with a higher peak than spring.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Fall 2020: Cases rose steadily after September.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Winter 2020–21: Largest surge, peaking in early January.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Early 2021: Strong decline after the January peak.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p39" title="Daily New COVID-19 Deaths in the US (with 7-day Moving Average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5775" y="446800"/>
            <a:ext cx="6427223" cy="404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9"/>
          <p:cNvSpPr txBox="1"/>
          <p:nvPr/>
        </p:nvSpPr>
        <p:spPr>
          <a:xfrm>
            <a:off x="155875" y="301325"/>
            <a:ext cx="23898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Deaths remained very low until March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First major peak in April 2020, then declined.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Summer 2020 shows a smaller secondary rise.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Deaths increased steadily again in late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Largest peak occurred around January 2021.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Clear decline after January 2021.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9" name="Google Shape;269;p40" title="Daily COVID-19 Test Positivity Rate in the 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500" y="249375"/>
            <a:ext cx="6005924" cy="41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0"/>
          <p:cNvSpPr txBox="1"/>
          <p:nvPr/>
        </p:nvSpPr>
        <p:spPr>
          <a:xfrm>
            <a:off x="103900" y="446800"/>
            <a:ext cx="2868000" cy="3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Early 2020 shows large spikes due to very low test volume.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After March 2020, positivity rate stabilizes at a lower and more reliable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 small rise appears around April, then declines through summer.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Late 2020 shows a gradual increase before falling again in early 2021.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Overall positivity rate remains relatively low compared to case/death trends.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7" name="Google Shape;277;p41" title="Daily COVID-19 Tests in the U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6875" y="178250"/>
            <a:ext cx="5933225" cy="437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/>
        </p:nvSpPr>
        <p:spPr>
          <a:xfrm>
            <a:off x="103900" y="115925"/>
            <a:ext cx="2898900" cy="45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Testing was extremely limited before March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Rapid expansion of testing began in late March.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Testing volume increased continuously through summer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Significant growth in testing capacity occurred in fall and winter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Testing peaked around late 2020 to early 2021 (near ~1.5–2M tests/day).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Daily test counts show strong weekly cycles (weekend drop patterns).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p42" title="COVID-19 Case Fatality Rate Over Time (US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75" y="398588"/>
            <a:ext cx="5683825" cy="404267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2"/>
          <p:cNvSpPr txBox="1"/>
          <p:nvPr/>
        </p:nvSpPr>
        <p:spPr>
          <a:xfrm>
            <a:off x="6026725" y="72575"/>
            <a:ext cx="30030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Very early data show extreme spikes due to </a:t>
            </a:r>
            <a:r>
              <a:rPr b="1" lang="en-US">
                <a:solidFill>
                  <a:schemeClr val="dk1"/>
                </a:solidFill>
              </a:rPr>
              <a:t>low case counts and reporting delays.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CFR drops sharply after March as testing increases and data stabilizes.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CFR rises again in April–May 2020, reaching a mid-year peak.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Gradual decline continues through summer and fall 2020.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By late 2020 and early 2021, CFR stabilizes at a relatively low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Overall downward trend suggests improved treatment and expanded testing.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2.jpg" id="291" name="Google Shape;2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3"/>
          <p:cNvSpPr txBox="1"/>
          <p:nvPr/>
        </p:nvSpPr>
        <p:spPr>
          <a:xfrm>
            <a:off x="8427357" y="5851071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8010071" y="575128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3"/>
          <p:cNvSpPr txBox="1"/>
          <p:nvPr>
            <p:ph type="ctrTitle"/>
          </p:nvPr>
        </p:nvSpPr>
        <p:spPr>
          <a:xfrm>
            <a:off x="685800" y="2020492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State Level Analysis</a:t>
            </a:r>
            <a:endParaRPr sz="39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44"/>
          <p:cNvSpPr txBox="1"/>
          <p:nvPr/>
        </p:nvSpPr>
        <p:spPr>
          <a:xfrm>
            <a:off x="1378600" y="671800"/>
            <a:ext cx="4506600" cy="22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302" name="Google Shape;302;p44" title="Screenshot 2025-11-20 at 11.45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675" y="671801"/>
            <a:ext cx="5136502" cy="295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4" title="Screenshot 2025-11-20 at 11.46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425" y="923725"/>
            <a:ext cx="1877700" cy="2618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4"/>
          <p:cNvSpPr txBox="1"/>
          <p:nvPr/>
        </p:nvSpPr>
        <p:spPr>
          <a:xfrm>
            <a:off x="7347850" y="608825"/>
            <a:ext cx="1742700" cy="24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1.A few big states, like California (CA), Texas (TX), Florida (FL), and New York (NY), have the highest total COVID cases.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2. Many other states have much lower total case numbers, so the distribution is very uneven.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3.Total deaths are much smaller than total cases in every state.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4. States with many cases also usually have more deaths.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45" title="Screenshot 2025-11-20 at 11.58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175" y="531936"/>
            <a:ext cx="4795023" cy="3118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5" title="Screenshot 2025-11-20 at 11.41.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25" y="629825"/>
            <a:ext cx="1611151" cy="33621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5"/>
          <p:cNvSpPr txBox="1"/>
          <p:nvPr/>
        </p:nvSpPr>
        <p:spPr>
          <a:xfrm>
            <a:off x="6553200" y="531925"/>
            <a:ext cx="2327400" cy="29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</a:rPr>
              <a:t>1. </a:t>
            </a:r>
            <a:r>
              <a:rPr b="1" lang="en-US" sz="800">
                <a:solidFill>
                  <a:schemeClr val="dk1"/>
                </a:solidFill>
              </a:rPr>
              <a:t>California (CA) has by far the highest peak.</a:t>
            </a:r>
            <a:br>
              <a:rPr b="1"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Its 7-day average of new cases goes above 40,000, much higher than any other state.</a:t>
            </a:r>
            <a:br>
              <a:rPr lang="en-US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2. Texas (TX), Florida (FL) and New York (NY) also have very high peaks.</a:t>
            </a:r>
            <a:r>
              <a:rPr lang="en-US" sz="800">
                <a:solidFill>
                  <a:schemeClr val="dk1"/>
                </a:solidFill>
              </a:rPr>
              <a:t>They form a second group below California but still much higher than most other states.</a:t>
            </a:r>
            <a:br>
              <a:rPr lang="en-US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3.Many states have much smaller peaks. </a:t>
            </a:r>
            <a:r>
              <a:rPr lang="en-US" sz="800">
                <a:solidFill>
                  <a:schemeClr val="dk1"/>
                </a:solidFill>
              </a:rPr>
              <a:t>For a lot of states on the right side of the chart, the peak 7-day average is only a few thousand or even under 1,000 cases.</a:t>
            </a:r>
            <a:br>
              <a:rPr lang="en-US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4. The distribution is very uneven.</a:t>
            </a:r>
            <a:br>
              <a:rPr b="1"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 A few large states have extremely high surge peaks, while most states have much lower peaks, so the bars drop off quickly from left to right.</a:t>
            </a:r>
            <a:br>
              <a:rPr lang="en-US" sz="800">
                <a:solidFill>
                  <a:schemeClr val="dk1"/>
                </a:solidFill>
              </a:rPr>
            </a:b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5. This matches the total-cases pattern.</a:t>
            </a:r>
            <a:r>
              <a:rPr lang="en-US" sz="800">
                <a:solidFill>
                  <a:schemeClr val="dk1"/>
                </a:solidFill>
              </a:rPr>
              <a:t> States that had the largest total case counts (like CA, TX, FL, NY) also had the largest daily surges in new cases.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type="ctrTitle"/>
          </p:nvPr>
        </p:nvSpPr>
        <p:spPr>
          <a:xfrm>
            <a:off x="335900" y="191225"/>
            <a:ext cx="2393400" cy="32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 Latest Date: 2021-03-07</a:t>
            </a:r>
            <a:endParaRPr sz="1200"/>
          </a:p>
        </p:txBody>
      </p:sp>
      <p:sp>
        <p:nvSpPr>
          <p:cNvPr id="320" name="Google Shape;320;p4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2" name="Google Shape;322;p46" title="Screenshot 2025-11-20 at 11.52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75" y="831150"/>
            <a:ext cx="7438824" cy="31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ctrTitle"/>
          </p:nvPr>
        </p:nvSpPr>
        <p:spPr>
          <a:xfrm>
            <a:off x="335900" y="191225"/>
            <a:ext cx="2393400" cy="32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 Latest Date: 2021-03-07</a:t>
            </a:r>
            <a:endParaRPr sz="1200"/>
          </a:p>
        </p:txBody>
      </p:sp>
      <p:sp>
        <p:nvSpPr>
          <p:cNvPr id="329" name="Google Shape;329;p47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1" name="Google Shape;331;p47" title="Screenshot 2025-11-20 at 11.55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50" y="832750"/>
            <a:ext cx="7601576" cy="31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/>
              <a:t>Github Repo &amp; Dashboard Walkthrough</a:t>
            </a:r>
            <a:endParaRPr b="1"/>
          </a:p>
        </p:txBody>
      </p:sp>
      <p:sp>
        <p:nvSpPr>
          <p:cNvPr id="337" name="Google Shape;337;p48"/>
          <p:cNvSpPr txBox="1"/>
          <p:nvPr/>
        </p:nvSpPr>
        <p:spPr>
          <a:xfrm>
            <a:off x="4330500" y="3359615"/>
            <a:ext cx="4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Arial"/>
              <a:buNone/>
            </a:pPr>
            <a:r>
              <a:rPr b="1" lang="en-US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/>
              <a:t>Questions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type="title"/>
          </p:nvPr>
        </p:nvSpPr>
        <p:spPr>
          <a:xfrm>
            <a:off x="0" y="1386085"/>
            <a:ext cx="9144000" cy="20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/>
              <a:t>Thank you</a:t>
            </a:r>
            <a:endParaRPr b="1"/>
          </a:p>
        </p:txBody>
      </p:sp>
      <p:sp>
        <p:nvSpPr>
          <p:cNvPr id="348" name="Google Shape;348;p50"/>
          <p:cNvSpPr txBox="1"/>
          <p:nvPr/>
        </p:nvSpPr>
        <p:spPr>
          <a:xfrm>
            <a:off x="2809500" y="2927700"/>
            <a:ext cx="35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240"/>
              </a:spcBef>
              <a:spcAft>
                <a:spcPts val="0"/>
              </a:spcAft>
              <a:buClr>
                <a:srgbClr val="4E2A84"/>
              </a:buClr>
              <a:buSzPts val="13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&amp; wishing you a wonderful Thanksgiving!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xecutive">
  <a:themeElements>
    <a:clrScheme name="Custom 6">
      <a:dk1>
        <a:srgbClr val="342F2E"/>
      </a:dk1>
      <a:lt1>
        <a:srgbClr val="FFFFFF"/>
      </a:lt1>
      <a:dk2>
        <a:srgbClr val="4E2A84"/>
      </a:dk2>
      <a:lt2>
        <a:srgbClr val="D8D6D6"/>
      </a:lt2>
      <a:accent1>
        <a:srgbClr val="401F68"/>
      </a:accent1>
      <a:accent2>
        <a:srgbClr val="007FA4"/>
      </a:accent2>
      <a:accent3>
        <a:srgbClr val="0D2D6C"/>
      </a:accent3>
      <a:accent4>
        <a:srgbClr val="D9C826"/>
      </a:accent4>
      <a:accent5>
        <a:srgbClr val="CA7C1B"/>
      </a:accent5>
      <a:accent6>
        <a:srgbClr val="D85820"/>
      </a:accent6>
      <a:hlink>
        <a:srgbClr val="5091CD"/>
      </a:hlink>
      <a:folHlink>
        <a:srgbClr val="BBB8B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